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WNY Fleet &amp; Property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Investor Pitch Deck (Close-Ready)</a:t>
            </a:r>
          </a:p>
          <a:p>
            <a:pPr/>
            <a:r>
              <a:t>Buffalo, NY Market</a:t>
            </a:r>
          </a:p>
          <a:p>
            <a:pPr/>
            <a:r>
              <a:t>Multi-Revenue Service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Fragmented local market</a:t>
            </a:r>
          </a:p>
          <a:p>
            <a:pPr/>
            <a:r>
              <a:t>High demand across residential + commercial</a:t>
            </a:r>
          </a:p>
          <a:p>
            <a:pPr/>
            <a:r>
              <a:t>No dominant bundled provider</a:t>
            </a:r>
          </a:p>
          <a:p>
            <a:pPr/>
            <a:r>
              <a:t>Opportunity to consolidate services under one brand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Homeowners juggle multiple vendors</a:t>
            </a:r>
          </a:p>
          <a:p>
            <a:pPr/>
            <a:r>
              <a:t>Trucking companies lack reliable wash partners</a:t>
            </a:r>
          </a:p>
          <a:p>
            <a:pPr/>
            <a:r>
              <a:t>Contractors overpay for dumpsters</a:t>
            </a:r>
          </a:p>
          <a:p>
            <a:pPr/>
            <a:r>
              <a:t>No integrated service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One-call provider for all exterior &amp; fleet needs</a:t>
            </a:r>
          </a:p>
          <a:p>
            <a:pPr/>
            <a:r>
              <a:t>Recurring + contract + asset-based revenue</a:t>
            </a:r>
          </a:p>
          <a:p>
            <a:pPr/>
            <a:r>
              <a:t>Faster service, lower total cost for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Dog Waste Removal (recurring)</a:t>
            </a:r>
          </a:p>
          <a:p>
            <a:pPr/>
            <a:r>
              <a:t>Pressure Washing (residential/commercial)</a:t>
            </a:r>
          </a:p>
          <a:p>
            <a:pPr/>
            <a:r>
              <a:t>Fleet Washing (contract-based)</a:t>
            </a:r>
          </a:p>
          <a:p>
            <a:pPr/>
            <a:r>
              <a:t>Dumpster Rentals</a:t>
            </a:r>
          </a:p>
          <a:p>
            <a:pPr/>
            <a:r>
              <a:t>Storage Pods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High suburban density (Buffalo suburbs)</a:t>
            </a:r>
          </a:p>
          <a:p>
            <a:pPr/>
            <a:r>
              <a:t>Strong logistics hub (cross-border traffic)</a:t>
            </a:r>
          </a:p>
          <a:p>
            <a:pPr/>
            <a:r>
              <a:t>Year-round service demand</a:t>
            </a:r>
          </a:p>
          <a:p>
            <a:pPr/>
            <a:r>
              <a:t>Proven pricing and margins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Recurring revenue: dog waste, fleet contracts</a:t>
            </a:r>
          </a:p>
          <a:p>
            <a:pPr/>
            <a:r>
              <a:t>Project revenue: pressure washing</a:t>
            </a:r>
          </a:p>
          <a:p>
            <a:pPr/>
            <a:r>
              <a:t>Asset income: dumpsters, pods</a:t>
            </a:r>
          </a:p>
          <a:p>
            <a:pPr/>
            <a:r>
              <a:t>Cross-selling increases lifetime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Plan (First 90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10–20 initial customers</a:t>
            </a:r>
          </a:p>
          <a:p>
            <a:pPr/>
            <a:r>
              <a:t>Launch 2–3 dumpsters</a:t>
            </a:r>
          </a:p>
          <a:p>
            <a:pPr/>
            <a:r>
              <a:t>Secure first fleet contract</a:t>
            </a:r>
          </a:p>
          <a:p>
            <a:pPr/>
            <a:r>
              <a:t>Reach $20K–$30K monthly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 Year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Revenue: $350K–$400K</a:t>
            </a:r>
          </a:p>
          <a:p>
            <a:pPr/>
            <a:r>
              <a:t>Net Profit: $140K–$180K</a:t>
            </a:r>
          </a:p>
          <a:p>
            <a:pPr/>
            <a:r>
              <a:t>Break-even by Month 2–3</a:t>
            </a:r>
          </a:p>
          <a:p>
            <a:pPr/>
            <a:r>
              <a:t>Strong cash flow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Add fleet contracts (highest ROI)</a:t>
            </a:r>
          </a:p>
          <a:p>
            <a:pPr/>
            <a:r>
              <a:t>Expand dumpster inventory</a:t>
            </a:r>
          </a:p>
          <a:p>
            <a:pPr/>
            <a:r>
              <a:t>Hire 1–2 crews</a:t>
            </a:r>
          </a:p>
          <a:p>
            <a:pPr/>
            <a:r>
              <a:t>Scale to $750K+ revenue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Bundled services = higher customer value</a:t>
            </a:r>
          </a:p>
          <a:p>
            <a:pPr/>
            <a:r>
              <a:t>Route density reduces costs</a:t>
            </a:r>
          </a:p>
          <a:p>
            <a:pPr/>
            <a:r>
              <a:t>Contracts stabilize revenue</a:t>
            </a:r>
          </a:p>
          <a:p>
            <a:pPr/>
            <a:r>
              <a:t>Asset-based income builds equity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Equipment &amp; fleet setup: $25K</a:t>
            </a:r>
          </a:p>
          <a:p>
            <a:pPr/>
            <a:r>
              <a:t>Dump trailers: $25K–$35K</a:t>
            </a:r>
          </a:p>
          <a:p>
            <a:pPr/>
            <a:r>
              <a:t>Storage pods: $10K–$20K</a:t>
            </a:r>
          </a:p>
          <a:p>
            <a:pPr/>
            <a:r>
              <a:t>Vehicle: $20K–$30K</a:t>
            </a:r>
          </a:p>
          <a:p>
            <a:pPr/>
            <a:r>
              <a:t>Marketing &amp; working capital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Seeking $85K–$120K</a:t>
            </a:r>
          </a:p>
          <a:p>
            <a:pPr/>
            <a:r>
              <a:t>Flexible structure:</a:t>
            </a:r>
          </a:p>
          <a:p>
            <a:pPr/>
            <a:r>
              <a:t>• Revenue share</a:t>
            </a:r>
          </a:p>
          <a:p>
            <a:pPr/>
            <a:r>
              <a:t>• Equity</a:t>
            </a:r>
          </a:p>
          <a:p>
            <a:pPr/>
            <a:r>
              <a:t>• Hybrid option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Target 1.5x–2x return (12–24 months)</a:t>
            </a:r>
          </a:p>
          <a:p>
            <a:pPr/>
            <a:r>
              <a:t>Ongoing profit participation (equity)</a:t>
            </a:r>
          </a:p>
          <a:p>
            <a:pPr/>
            <a:r>
              <a:t>Scalable exit opportunity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Scale to $1M+ revenue</a:t>
            </a:r>
          </a:p>
          <a:p>
            <a:pPr/>
            <a:r>
              <a:t>Sell at 3x–5x EBITDA</a:t>
            </a:r>
          </a:p>
          <a:p>
            <a:pPr/>
            <a:r>
              <a:t>Buyers: regional operators, private equity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Multiple revenue streams</a:t>
            </a:r>
          </a:p>
          <a:p>
            <a:pPr/>
            <a:r>
              <a:t>Fast path to profitability</a:t>
            </a:r>
          </a:p>
          <a:p>
            <a:pPr/>
            <a:r>
              <a:t>Scalable with low overhead</a:t>
            </a:r>
          </a:p>
          <a:p>
            <a:pPr/>
            <a:r>
              <a:t>Strong local demand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Review opportunity</a:t>
            </a:r>
          </a:p>
          <a:p>
            <a:pPr/>
            <a:r>
              <a:t>Discuss structure</a:t>
            </a:r>
          </a:p>
          <a:p>
            <a:pPr/>
            <a:r>
              <a:t>Secure funding</a:t>
            </a:r>
          </a:p>
          <a:p>
            <a:pPr/>
            <a:r>
              <a:t>Launch within 30–60 days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EBITDA &amp;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 EBITDA: $140K – $180K (~40% margin)</a:t>
            </a:r>
          </a:p>
          <a:p>
            <a:pPr/>
            <a:r>
              <a:t>Year 2–3 EBITDA: $250K – $450K+</a:t>
            </a:r>
          </a:p>
          <a:p>
            <a:pPr/>
            <a:r>
              <a:t>Valuation Range: 3x – 5x EBITDA</a:t>
            </a:r>
          </a:p>
          <a:p>
            <a:pPr/>
            <a:r>
              <a:t>Year 1 Valuation: $450K – $750K</a:t>
            </a:r>
          </a:p>
          <a:p>
            <a:pPr/>
            <a:r>
              <a:t>Scaled Valuation: $1M – $1.75M+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